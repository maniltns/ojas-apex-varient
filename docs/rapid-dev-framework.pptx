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9AA2"/>
                </a:solidFill>
                <a:latin typeface="Calibri"/>
              </a:rPr>
              <a:t>RAPID DELIVERY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DEDED"/>
                </a:solidFill>
                <a:latin typeface="Calibri"/>
              </a:rPr>
              <a:t>Vibe-Coding for Enterprise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A9AA2"/>
                </a:solidFill>
                <a:latin typeface="Calibri"/>
              </a:rPr>
              <a:t>An agentic developer workflow that compresses weeks of build into days  —  proven on ACCOR EBS Finance Bot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783080"/>
            <a:ext cx="11274552" cy="0"/>
          </a:xfrm>
          <a:prstGeom prst="line">
            <a:avLst/>
          </a:prstGeom>
          <a:ln w="9525">
            <a:solidFill>
              <a:srgbClr val="2A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965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A72"/>
                </a:solidFill>
                <a:latin typeface="Calibri"/>
              </a:rPr>
              <a:t>THE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1 ·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919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DEDED"/>
                </a:solidFill>
                <a:latin typeface="Calibri"/>
              </a:rPr>
              <a:t>Plain-English requirements, screenshots, sample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9AA2"/>
                </a:solidFill>
                <a:latin typeface="Calibri"/>
              </a:rPr>
              <a:t>Finance SME describes what the bot should do — no PRD, no Jira backlog, no handoff.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3337560"/>
            <a:ext cx="0" cy="182880"/>
          </a:xfrm>
          <a:prstGeom prst="line">
            <a:avLst/>
          </a:prstGeom>
          <a:ln w="19050">
            <a:solidFill>
              <a:srgbClr val="9A9AA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584448"/>
            <a:ext cx="7315200" cy="14173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941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2 · AGENTIC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05993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3425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Skills · subagents · plan mode · MCP. Authors APEXlang + PL/SQL end-to-end.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96849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2" y="405993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Antigravity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433425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Agent-first IDE. Multi-agent task runners for parallel scaffolding &amp;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968496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405993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Domain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433425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APEXlang validator · Oracle MCP · custom agents that know the stack.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5047488"/>
            <a:ext cx="0" cy="182880"/>
          </a:xfrm>
          <a:prstGeom prst="line">
            <a:avLst/>
          </a:prstGeom>
          <a:ln w="19050">
            <a:solidFill>
              <a:srgbClr val="9A9AA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" y="5294376"/>
            <a:ext cx="7315200" cy="96012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041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3 · NATIVE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4184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DEDED"/>
                </a:solidFill>
                <a:latin typeface="Calibri"/>
              </a:rPr>
              <a:t>Oracle APEX  +  Autonomous DB 23ai   ·   no middle tier, no separate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344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9AA2"/>
                </a:solidFill>
                <a:latin typeface="Calibri"/>
              </a:rPr>
              <a:t>Agent ships declarative .apx files + PL/SQL packages — deploys via SQLcl in minutes.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A6A72"/>
                </a:solidFill>
                <a:latin typeface="Calibri"/>
              </a:rPr>
              <a:t>ACCOR PROOF 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33172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49631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4ADE80"/>
                </a:solidFill>
                <a:latin typeface="Calibri"/>
              </a:rPr>
              <a:t>Days, not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044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9AA2"/>
                </a:solidFill>
                <a:latin typeface="Calibri"/>
              </a:rPr>
              <a:t>POC delivered native on APEX + ATP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493008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6576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0A5FA"/>
                </a:solidFill>
                <a:latin typeface="Calibri"/>
              </a:rPr>
              <a:t>1 repo  ·  0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06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9AA2"/>
                </a:solidFill>
                <a:latin typeface="Calibri"/>
              </a:rPr>
              <a:t>12 tables, 3 PL/SQL packages, 5 pages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4654296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81888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Calibri"/>
              </a:rPr>
              <a:t>Audit-grade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367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9AA2"/>
                </a:solidFill>
                <a:latin typeface="Calibri"/>
              </a:rPr>
              <a:t>Role-aware, IAM-gated, every action logged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2A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A6A72"/>
                </a:solidFill>
                <a:latin typeface="Calibri"/>
              </a:rPr>
              <a:t>ACCOR EBS Finance Bot  ·  OCI APEX + ATP 23ai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37960"/>
            <a:ext cx="3959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6A72"/>
                </a:solidFill>
                <a:latin typeface="Calibri"/>
              </a:rPr>
              <a:t>Slide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9AA2"/>
                </a:solidFill>
                <a:latin typeface="Calibri"/>
              </a:rPr>
              <a:t>ARCHITECTURE  ·  FRAMEWORK → SHIPPED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DEDED"/>
                </a:solidFill>
                <a:latin typeface="Calibri"/>
              </a:rPr>
              <a:t>From prompt to production-shaped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A9AA2"/>
                </a:solidFill>
                <a:latin typeface="Calibri"/>
              </a:rPr>
              <a:t>Two planes — a developer plane (agentic tools) and a runtime plane (native APEX).  Same codebase. Same skills. No glue.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737360"/>
            <a:ext cx="11274552" cy="0"/>
          </a:xfrm>
          <a:prstGeom prst="line">
            <a:avLst/>
          </a:prstGeom>
          <a:ln w="9525">
            <a:solidFill>
              <a:srgbClr val="2A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920240"/>
            <a:ext cx="11274552" cy="192024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DEVELOPER PLANE   ·   agentic toolchain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14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706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DEDED"/>
                </a:solidFill>
                <a:latin typeface="Calibri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8152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Finance requirement in plain English  +  schema sample  +  UI sketch.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4231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514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7706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DEDED"/>
                </a:solidFill>
                <a:latin typeface="Calibri"/>
              </a:rPr>
              <a:t>Claude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08152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Plan mode → subagents fan out: schema, security pkg, bot pkg, APEXlang pages. Self-validates each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231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514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7706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DEDED"/>
                </a:solidFill>
                <a:latin typeface="Calibri"/>
              </a:rPr>
              <a:t>Antigravity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08152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Parallel agents handle scaffolding, refactors and review while Claude drives the spec.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242316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552" y="2514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27706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DEDED"/>
                </a:solidFill>
                <a:latin typeface="Calibri"/>
              </a:rPr>
              <a:t>Domain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3081528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APEXlang validator + Oracle MCP enforce compiler-truth before code lands.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37560" y="3063240"/>
            <a:ext cx="91440" cy="0"/>
          </a:xfrm>
          <a:prstGeom prst="line">
            <a:avLst/>
          </a:prstGeom>
          <a:ln w="12700">
            <a:solidFill>
              <a:srgbClr val="6A6A7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35040" y="3063240"/>
            <a:ext cx="91440" cy="0"/>
          </a:xfrm>
          <a:prstGeom prst="line">
            <a:avLst/>
          </a:prstGeom>
          <a:ln w="12700">
            <a:solidFill>
              <a:srgbClr val="6A6A7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732520" y="3063240"/>
            <a:ext cx="91440" cy="0"/>
          </a:xfrm>
          <a:prstGeom prst="line">
            <a:avLst/>
          </a:prstGeom>
          <a:ln w="12700">
            <a:solidFill>
              <a:srgbClr val="6A6A7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9904" y="3886200"/>
            <a:ext cx="0" cy="274320"/>
          </a:xfrm>
          <a:prstGeom prst="line">
            <a:avLst/>
          </a:prstGeom>
          <a:ln w="25400">
            <a:solidFill>
              <a:srgbClr val="FFFF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27064" y="39136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9AA2"/>
                </a:solidFill>
                <a:latin typeface="Calibri"/>
              </a:rPr>
              <a:t>ships  declaratively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11274552" cy="196596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Calibri"/>
              </a:rPr>
              <a:t>RUNTIME PLANE   ·   native Oracle APEX  +  Autonomous DB 23ai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709160"/>
            <a:ext cx="54864" cy="13716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8188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APEX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12064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5 pages, 1 chat shell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Dark-themed HTML / JS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Server-sanitized output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App-process AJAX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29000" y="4709160"/>
            <a:ext cx="54864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168" y="48188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PL/SQL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512064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ACCOR_EBS_BOT_PKG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Intent dispatch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Injection screen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Select AI fallback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709160"/>
            <a:ext cx="54864" cy="13716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8188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Security &amp; 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512064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ACCOR_IAM_VALIDATOR_PKG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Role + property scope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Pending-approval handshake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Autonomous-tx audit log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47091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C1C20"/>
          </a:solidFill>
          <a:ln w="9525">
            <a:solidFill>
              <a:srgbClr val="2A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23960" y="4709160"/>
            <a:ext cx="54864" cy="13716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5128" y="48188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DEDED"/>
                </a:solidFill>
                <a:latin typeface="Calibri"/>
              </a:rPr>
              <a:t>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25128" y="512064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12 ACCOR_* tables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Seeded demo data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Audit + pending state</a:t>
            </a:r>
          </a:p>
          <a:p>
            <a:pPr algn="l"/>
            <a:r>
              <a:rPr sz="900" b="0" i="0">
                <a:solidFill>
                  <a:srgbClr val="9A9AA2"/>
                </a:solidFill>
                <a:latin typeface="Calibri"/>
              </a:rPr>
              <a:t>No middle tier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6350">
            <a:solidFill>
              <a:srgbClr val="2A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A6A72"/>
                </a:solidFill>
                <a:latin typeface="Calibri"/>
              </a:rPr>
              <a:t>Same agents that authored the code can extend it — every artifact is plain text, version-controlled, deploy-by-script.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37960"/>
            <a:ext cx="2130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A6A72"/>
                </a:solidFill>
                <a:latin typeface="Calibri"/>
              </a:rPr>
              <a:t>Slide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